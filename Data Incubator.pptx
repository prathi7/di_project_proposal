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76" r:id="rId3"/>
    <p:sldId id="265" r:id="rId4"/>
    <p:sldId id="258" r:id="rId5"/>
    <p:sldId id="278" r:id="rId6"/>
    <p:sldId id="282" r:id="rId7"/>
    <p:sldId id="279" r:id="rId8"/>
    <p:sldId id="280" r:id="rId9"/>
    <p:sldId id="284" r:id="rId10"/>
    <p:sldId id="285" r:id="rId11"/>
    <p:sldId id="286" r:id="rId12"/>
    <p:sldId id="281" r:id="rId13"/>
    <p:sldId id="288" r:id="rId14"/>
    <p:sldId id="289" r:id="rId15"/>
    <p:sldId id="290" r:id="rId16"/>
    <p:sldId id="287" r:id="rId17"/>
    <p:sldId id="28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FC000"/>
    <a:srgbClr val="70AD47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B9B83C-91C0-4EB3-9919-218DC583C69A}" type="doc">
      <dgm:prSet loTypeId="urn:microsoft.com/office/officeart/2005/8/layout/vProcess5" loCatId="process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F567554-34C4-4061-AE75-461878F14025}">
      <dgm:prSet phldrT="[Text]" custT="1"/>
      <dgm:spPr/>
      <dgm:t>
        <a:bodyPr/>
        <a:lstStyle/>
        <a:p>
          <a:r>
            <a:rPr lang="en-US" sz="2800" b="1" dirty="0"/>
            <a:t>GENERAL APPROACH</a:t>
          </a:r>
        </a:p>
      </dgm:t>
    </dgm:pt>
    <dgm:pt modelId="{9AB670A4-FD7F-411A-B908-6A61E5818428}" type="parTrans" cxnId="{DF3C8F6F-03BB-429D-B2CA-BE31F9F238D1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08F35E70-5067-4F28-BD33-ACD5D198A6A6}" type="sibTrans" cxnId="{DF3C8F6F-03BB-429D-B2CA-BE31F9F238D1}">
      <dgm:prSet custT="1"/>
      <dgm:spPr/>
      <dgm:t>
        <a:bodyPr/>
        <a:lstStyle/>
        <a:p>
          <a:endParaRPr lang="en-US" sz="3200" b="1">
            <a:solidFill>
              <a:schemeClr val="tx1"/>
            </a:solidFill>
          </a:endParaRPr>
        </a:p>
      </dgm:t>
    </dgm:pt>
    <dgm:pt modelId="{3A636591-A5EC-4BF1-B7B6-64D24F571696}">
      <dgm:prSet phldrT="[Text]" custT="1"/>
      <dgm:spPr/>
      <dgm:t>
        <a:bodyPr/>
        <a:lstStyle/>
        <a:p>
          <a:r>
            <a:rPr lang="en-US" sz="2800" b="1" dirty="0"/>
            <a:t>ANALYSIS</a:t>
          </a:r>
        </a:p>
      </dgm:t>
    </dgm:pt>
    <dgm:pt modelId="{9277AA30-7ECF-4926-B115-805616754D7A}" type="parTrans" cxnId="{F1BD2F9B-64A5-4D88-A1F9-4A3E9FAF72E5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D0FDEB39-F568-4213-A5FB-B941E4E2EB1A}" type="sibTrans" cxnId="{F1BD2F9B-64A5-4D88-A1F9-4A3E9FAF72E5}">
      <dgm:prSet custT="1"/>
      <dgm:spPr/>
      <dgm:t>
        <a:bodyPr/>
        <a:lstStyle/>
        <a:p>
          <a:endParaRPr lang="en-US" sz="3200" b="1">
            <a:solidFill>
              <a:schemeClr val="tx1"/>
            </a:solidFill>
          </a:endParaRPr>
        </a:p>
      </dgm:t>
    </dgm:pt>
    <dgm:pt modelId="{F608E2BA-C8A7-4535-974D-E904361A2769}" type="pres">
      <dgm:prSet presAssocID="{72B9B83C-91C0-4EB3-9919-218DC583C69A}" presName="outerComposite" presStyleCnt="0">
        <dgm:presLayoutVars>
          <dgm:chMax val="5"/>
          <dgm:dir/>
          <dgm:resizeHandles val="exact"/>
        </dgm:presLayoutVars>
      </dgm:prSet>
      <dgm:spPr/>
    </dgm:pt>
    <dgm:pt modelId="{5864FCE6-040F-434B-83D5-B556863EAD99}" type="pres">
      <dgm:prSet presAssocID="{72B9B83C-91C0-4EB3-9919-218DC583C69A}" presName="dummyMaxCanvas" presStyleCnt="0">
        <dgm:presLayoutVars/>
      </dgm:prSet>
      <dgm:spPr/>
    </dgm:pt>
    <dgm:pt modelId="{496418E5-A6DB-4F92-8F7D-5B56EFF93B92}" type="pres">
      <dgm:prSet presAssocID="{72B9B83C-91C0-4EB3-9919-218DC583C69A}" presName="TwoNodes_1" presStyleLbl="node1" presStyleIdx="0" presStyleCnt="2">
        <dgm:presLayoutVars>
          <dgm:bulletEnabled val="1"/>
        </dgm:presLayoutVars>
      </dgm:prSet>
      <dgm:spPr/>
    </dgm:pt>
    <dgm:pt modelId="{B5322BAB-1302-4947-B504-F146317CD2EF}" type="pres">
      <dgm:prSet presAssocID="{72B9B83C-91C0-4EB3-9919-218DC583C69A}" presName="TwoNodes_2" presStyleLbl="node1" presStyleIdx="1" presStyleCnt="2">
        <dgm:presLayoutVars>
          <dgm:bulletEnabled val="1"/>
        </dgm:presLayoutVars>
      </dgm:prSet>
      <dgm:spPr/>
    </dgm:pt>
    <dgm:pt modelId="{547F781D-2EA7-4828-81AC-AE73DA862F9A}" type="pres">
      <dgm:prSet presAssocID="{72B9B83C-91C0-4EB3-9919-218DC583C69A}" presName="TwoConn_1-2" presStyleLbl="fgAccFollowNode1" presStyleIdx="0" presStyleCnt="1">
        <dgm:presLayoutVars>
          <dgm:bulletEnabled val="1"/>
        </dgm:presLayoutVars>
      </dgm:prSet>
      <dgm:spPr/>
    </dgm:pt>
    <dgm:pt modelId="{62859D44-36C1-48F9-918C-FD3D0F7866E2}" type="pres">
      <dgm:prSet presAssocID="{72B9B83C-91C0-4EB3-9919-218DC583C69A}" presName="TwoNodes_1_text" presStyleLbl="node1" presStyleIdx="1" presStyleCnt="2">
        <dgm:presLayoutVars>
          <dgm:bulletEnabled val="1"/>
        </dgm:presLayoutVars>
      </dgm:prSet>
      <dgm:spPr/>
    </dgm:pt>
    <dgm:pt modelId="{25F9A4D3-8179-4D54-8F19-2F5FD0C0B514}" type="pres">
      <dgm:prSet presAssocID="{72B9B83C-91C0-4EB3-9919-218DC583C69A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9569E11D-ACB7-4BA3-B651-805272C7CCBB}" type="presOf" srcId="{3A636591-A5EC-4BF1-B7B6-64D24F571696}" destId="{25F9A4D3-8179-4D54-8F19-2F5FD0C0B514}" srcOrd="1" destOrd="0" presId="urn:microsoft.com/office/officeart/2005/8/layout/vProcess5"/>
    <dgm:cxn modelId="{B41D0338-5298-4874-B172-4C09B2CF1B69}" type="presOf" srcId="{3A636591-A5EC-4BF1-B7B6-64D24F571696}" destId="{B5322BAB-1302-4947-B504-F146317CD2EF}" srcOrd="0" destOrd="0" presId="urn:microsoft.com/office/officeart/2005/8/layout/vProcess5"/>
    <dgm:cxn modelId="{A0B0B141-1EE3-4BDD-9E4D-FC3D1AB4102E}" type="presOf" srcId="{3F567554-34C4-4061-AE75-461878F14025}" destId="{62859D44-36C1-48F9-918C-FD3D0F7866E2}" srcOrd="1" destOrd="0" presId="urn:microsoft.com/office/officeart/2005/8/layout/vProcess5"/>
    <dgm:cxn modelId="{B7C95242-3035-4D0F-9EBE-B5DE41D90148}" type="presOf" srcId="{08F35E70-5067-4F28-BD33-ACD5D198A6A6}" destId="{547F781D-2EA7-4828-81AC-AE73DA862F9A}" srcOrd="0" destOrd="0" presId="urn:microsoft.com/office/officeart/2005/8/layout/vProcess5"/>
    <dgm:cxn modelId="{38A0ED6E-FE1D-4926-BC83-A4A87C069A05}" type="presOf" srcId="{72B9B83C-91C0-4EB3-9919-218DC583C69A}" destId="{F608E2BA-C8A7-4535-974D-E904361A2769}" srcOrd="0" destOrd="0" presId="urn:microsoft.com/office/officeart/2005/8/layout/vProcess5"/>
    <dgm:cxn modelId="{DF3C8F6F-03BB-429D-B2CA-BE31F9F238D1}" srcId="{72B9B83C-91C0-4EB3-9919-218DC583C69A}" destId="{3F567554-34C4-4061-AE75-461878F14025}" srcOrd="0" destOrd="0" parTransId="{9AB670A4-FD7F-411A-B908-6A61E5818428}" sibTransId="{08F35E70-5067-4F28-BD33-ACD5D198A6A6}"/>
    <dgm:cxn modelId="{FFBEA189-7CBA-425D-9BAE-5A4887CF6D41}" type="presOf" srcId="{3F567554-34C4-4061-AE75-461878F14025}" destId="{496418E5-A6DB-4F92-8F7D-5B56EFF93B92}" srcOrd="0" destOrd="0" presId="urn:microsoft.com/office/officeart/2005/8/layout/vProcess5"/>
    <dgm:cxn modelId="{F1BD2F9B-64A5-4D88-A1F9-4A3E9FAF72E5}" srcId="{72B9B83C-91C0-4EB3-9919-218DC583C69A}" destId="{3A636591-A5EC-4BF1-B7B6-64D24F571696}" srcOrd="1" destOrd="0" parTransId="{9277AA30-7ECF-4926-B115-805616754D7A}" sibTransId="{D0FDEB39-F568-4213-A5FB-B941E4E2EB1A}"/>
    <dgm:cxn modelId="{EE4A83A2-37A5-4A33-B81D-6D8CD2D9FA80}" type="presParOf" srcId="{F608E2BA-C8A7-4535-974D-E904361A2769}" destId="{5864FCE6-040F-434B-83D5-B556863EAD99}" srcOrd="0" destOrd="0" presId="urn:microsoft.com/office/officeart/2005/8/layout/vProcess5"/>
    <dgm:cxn modelId="{2604A82D-E38E-4849-AEE4-244FF7324861}" type="presParOf" srcId="{F608E2BA-C8A7-4535-974D-E904361A2769}" destId="{496418E5-A6DB-4F92-8F7D-5B56EFF93B92}" srcOrd="1" destOrd="0" presId="urn:microsoft.com/office/officeart/2005/8/layout/vProcess5"/>
    <dgm:cxn modelId="{473918B6-359F-437E-A7A6-98539C7D114A}" type="presParOf" srcId="{F608E2BA-C8A7-4535-974D-E904361A2769}" destId="{B5322BAB-1302-4947-B504-F146317CD2EF}" srcOrd="2" destOrd="0" presId="urn:microsoft.com/office/officeart/2005/8/layout/vProcess5"/>
    <dgm:cxn modelId="{3EAA4A95-E473-4ACD-AA3D-2E921F69BF9D}" type="presParOf" srcId="{F608E2BA-C8A7-4535-974D-E904361A2769}" destId="{547F781D-2EA7-4828-81AC-AE73DA862F9A}" srcOrd="3" destOrd="0" presId="urn:microsoft.com/office/officeart/2005/8/layout/vProcess5"/>
    <dgm:cxn modelId="{275BF27E-E044-4718-BBE8-DF56C7D8CA61}" type="presParOf" srcId="{F608E2BA-C8A7-4535-974D-E904361A2769}" destId="{62859D44-36C1-48F9-918C-FD3D0F7866E2}" srcOrd="4" destOrd="0" presId="urn:microsoft.com/office/officeart/2005/8/layout/vProcess5"/>
    <dgm:cxn modelId="{96FFED9C-181C-490A-B85D-4E0A5C4513A0}" type="presParOf" srcId="{F608E2BA-C8A7-4535-974D-E904361A2769}" destId="{25F9A4D3-8179-4D54-8F19-2F5FD0C0B514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418E5-A6DB-4F92-8F7D-5B56EFF93B92}">
      <dsp:nvSpPr>
        <dsp:cNvPr id="0" name=""/>
        <dsp:cNvSpPr/>
      </dsp:nvSpPr>
      <dsp:spPr>
        <a:xfrm>
          <a:off x="0" y="0"/>
          <a:ext cx="7713027" cy="171640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GENERAL APPROACH</a:t>
          </a:r>
        </a:p>
      </dsp:txBody>
      <dsp:txXfrm>
        <a:off x="50272" y="50272"/>
        <a:ext cx="5938988" cy="1615860"/>
      </dsp:txXfrm>
    </dsp:sp>
    <dsp:sp modelId="{B5322BAB-1302-4947-B504-F146317CD2EF}">
      <dsp:nvSpPr>
        <dsp:cNvPr id="0" name=""/>
        <dsp:cNvSpPr/>
      </dsp:nvSpPr>
      <dsp:spPr>
        <a:xfrm>
          <a:off x="1361122" y="2097828"/>
          <a:ext cx="7713027" cy="1716404"/>
        </a:xfrm>
        <a:prstGeom prst="roundRect">
          <a:avLst>
            <a:gd name="adj" fmla="val 10000"/>
          </a:avLst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ANALYSIS</a:t>
          </a:r>
        </a:p>
      </dsp:txBody>
      <dsp:txXfrm>
        <a:off x="1411394" y="2148100"/>
        <a:ext cx="5135697" cy="1615860"/>
      </dsp:txXfrm>
    </dsp:sp>
    <dsp:sp modelId="{547F781D-2EA7-4828-81AC-AE73DA862F9A}">
      <dsp:nvSpPr>
        <dsp:cNvPr id="0" name=""/>
        <dsp:cNvSpPr/>
      </dsp:nvSpPr>
      <dsp:spPr>
        <a:xfrm>
          <a:off x="6597364" y="1349284"/>
          <a:ext cx="1115663" cy="111566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b="1" kern="1200">
            <a:solidFill>
              <a:schemeClr val="tx1"/>
            </a:solidFill>
          </a:endParaRPr>
        </a:p>
      </dsp:txBody>
      <dsp:txXfrm>
        <a:off x="6848388" y="1349284"/>
        <a:ext cx="613615" cy="839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102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30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4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69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88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7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594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2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57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94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8542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41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1022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5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75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71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484F717-FAC5-4C6B-8DDB-D8AF58B0D315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D3AAEB4-79D0-4CA8-A918-F048D17B7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3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saspending.gov/#/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0B72E-AFB3-4273-AC20-9568D2B7C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87" y="1947333"/>
            <a:ext cx="8916988" cy="22193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Berlin Sans FB" panose="020E0602020502020306" pitchFamily="34" charset="0"/>
              </a:rPr>
              <a:t>Data Incubator </a:t>
            </a:r>
            <a:br>
              <a:rPr lang="en-US" b="1" dirty="0">
                <a:latin typeface="Berlin Sans FB" panose="020E0602020502020306" pitchFamily="34" charset="0"/>
              </a:rPr>
            </a:br>
            <a:r>
              <a:rPr lang="en-US" b="1" dirty="0">
                <a:latin typeface="Berlin Sans FB" panose="020E0602020502020306" pitchFamily="34" charset="0"/>
              </a:rPr>
              <a:t>Project</a:t>
            </a:r>
            <a:br>
              <a:rPr lang="en-US" b="1" dirty="0">
                <a:latin typeface="Berlin Sans FB" panose="020E0602020502020306" pitchFamily="34" charset="0"/>
              </a:rPr>
            </a:br>
            <a:br>
              <a:rPr lang="en-US" b="1" dirty="0">
                <a:latin typeface="Berlin Sans FB" panose="020E0602020502020306" pitchFamily="34" charset="0"/>
              </a:rPr>
            </a:br>
            <a:r>
              <a:rPr lang="en-US" sz="3600" b="1" dirty="0">
                <a:latin typeface="Berlin Sans FB" panose="020E0602020502020306" pitchFamily="34" charset="0"/>
              </a:rPr>
              <a:t>analyze FEDERAL Spending</a:t>
            </a:r>
            <a:endParaRPr lang="en-US" b="1" dirty="0">
              <a:latin typeface="Berlin Sans FB" panose="020E0602020502020306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48AB7-001C-4829-9B44-EBC671E47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2" y="4910667"/>
            <a:ext cx="6400800" cy="19473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Prathiba Duvvuri</a:t>
            </a:r>
          </a:p>
          <a:p>
            <a:r>
              <a:rPr lang="en-US" dirty="0">
                <a:solidFill>
                  <a:schemeClr val="tx1"/>
                </a:solidFill>
              </a:rPr>
              <a:t>19/02/2019</a:t>
            </a:r>
          </a:p>
        </p:txBody>
      </p:sp>
    </p:spTree>
    <p:extLst>
      <p:ext uri="{BB962C8B-B14F-4D97-AF65-F5344CB8AC3E}">
        <p14:creationId xmlns:p14="http://schemas.microsoft.com/office/powerpoint/2010/main" val="2500575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224776-BBE3-4111-B3A9-117D2F0D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77060"/>
            <a:ext cx="8534400" cy="1507067"/>
          </a:xfrm>
        </p:spPr>
        <p:txBody>
          <a:bodyPr/>
          <a:lstStyle/>
          <a:p>
            <a:pPr algn="ctr"/>
            <a:r>
              <a:rPr lang="en-US" b="1" dirty="0"/>
              <a:t>CONTENTS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CF02716-46FE-417F-B76B-98CB432D17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0421232"/>
              </p:ext>
            </p:extLst>
          </p:nvPr>
        </p:nvGraphicFramePr>
        <p:xfrm>
          <a:off x="860425" y="1952625"/>
          <a:ext cx="9074150" cy="3814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9144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D72072-7FE1-408E-B0FC-09D7D185BD0B}"/>
              </a:ext>
            </a:extLst>
          </p:cNvPr>
          <p:cNvSpPr/>
          <p:nvPr/>
        </p:nvSpPr>
        <p:spPr>
          <a:xfrm>
            <a:off x="609599" y="1993702"/>
            <a:ext cx="8801101" cy="3033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2000" b="1" dirty="0"/>
              <a:t>Identify Problem Statement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2000" b="1" dirty="0"/>
              <a:t>Collect and Prepare Data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2000" b="1" dirty="0"/>
              <a:t>Analyze Data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2000" b="1" dirty="0"/>
              <a:t>Interpret Results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224776-BBE3-4111-B3A9-117D2F0D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53260"/>
            <a:ext cx="8534400" cy="1507067"/>
          </a:xfrm>
        </p:spPr>
        <p:txBody>
          <a:bodyPr/>
          <a:lstStyle/>
          <a:p>
            <a:pPr algn="ctr"/>
            <a:r>
              <a:rPr lang="en-US" b="1" dirty="0"/>
              <a:t>GENERAL Approach</a:t>
            </a:r>
          </a:p>
        </p:txBody>
      </p:sp>
    </p:spTree>
    <p:extLst>
      <p:ext uri="{BB962C8B-B14F-4D97-AF65-F5344CB8AC3E}">
        <p14:creationId xmlns:p14="http://schemas.microsoft.com/office/powerpoint/2010/main" val="3617956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CB9-97B6-48F6-AD43-7DAD1BC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6"/>
            <a:ext cx="10515600" cy="1325563"/>
          </a:xfrm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b="1" dirty="0"/>
              <a:t>Identify 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E815F-F562-4E8C-A747-CEE3FE316C2A}"/>
              </a:ext>
            </a:extLst>
          </p:cNvPr>
          <p:cNvSpPr/>
          <p:nvPr/>
        </p:nvSpPr>
        <p:spPr>
          <a:xfrm>
            <a:off x="838200" y="2063740"/>
            <a:ext cx="939165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Objective: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Discover USA federal government’s spending accounts across different departments over time</a:t>
            </a:r>
          </a:p>
          <a:p>
            <a:pPr>
              <a:lnSpc>
                <a:spcPct val="150000"/>
              </a:lnSpc>
            </a:pPr>
            <a:br>
              <a:rPr lang="en-US" sz="2000" b="1" dirty="0"/>
            </a:br>
            <a:r>
              <a:rPr lang="en-US" sz="2000" b="1" dirty="0"/>
              <a:t>Motivation: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Visualizations bring awareness among general public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Insights will help Federal Government for effective budget management and process optimization</a:t>
            </a:r>
          </a:p>
          <a:p>
            <a:br>
              <a:rPr lang="en-US" sz="2000" b="1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36778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CB9-97B6-48F6-AD43-7DAD1BC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6"/>
            <a:ext cx="10515600" cy="1325563"/>
          </a:xfrm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b="1" dirty="0"/>
              <a:t>Collect AND PREPARE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E815F-F562-4E8C-A747-CEE3FE316C2A}"/>
              </a:ext>
            </a:extLst>
          </p:cNvPr>
          <p:cNvSpPr/>
          <p:nvPr/>
        </p:nvSpPr>
        <p:spPr>
          <a:xfrm>
            <a:off x="838200" y="2063740"/>
            <a:ext cx="9391650" cy="3726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Data Source: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hlinkClick r:id="rId2"/>
              </a:rPr>
              <a:t>https://www.usaspending.gov/#/</a:t>
            </a:r>
            <a:endParaRPr lang="en-US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47 GB Total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Data selected for Analysis on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Contract spending across departments for year 2019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Resources vs Obligations for year 2018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Research to be expanded across various departments and over time</a:t>
            </a:r>
            <a:br>
              <a:rPr lang="en-US" sz="2000" b="1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11494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CB9-97B6-48F6-AD43-7DAD1BC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6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250000"/>
              </a:lnSpc>
            </a:pPr>
            <a:r>
              <a:rPr lang="en-US" b="1" dirty="0"/>
              <a:t>ANALYZE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E815F-F562-4E8C-A747-CEE3FE316C2A}"/>
              </a:ext>
            </a:extLst>
          </p:cNvPr>
          <p:cNvSpPr/>
          <p:nvPr/>
        </p:nvSpPr>
        <p:spPr>
          <a:xfrm>
            <a:off x="647700" y="1635115"/>
            <a:ext cx="9391650" cy="5295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u="sng" dirty="0"/>
              <a:t>Contract spending – 2019 &amp;</a:t>
            </a:r>
          </a:p>
          <a:p>
            <a:pPr algn="ctr">
              <a:lnSpc>
                <a:spcPct val="150000"/>
              </a:lnSpc>
            </a:pPr>
            <a:r>
              <a:rPr lang="en-US" sz="2400" b="1" u="sng" dirty="0"/>
              <a:t> Resources vs Obligations for year 2018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Python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Pandas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Numpy</a:t>
            </a:r>
            <a:r>
              <a:rPr lang="en-US" sz="2000" b="1" dirty="0"/>
              <a:t>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Matplotlib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Applied methods for selecting appropriate columns and rows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Various grouping and aggregation techniques on columns of interest for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Tableau</a:t>
            </a:r>
            <a:br>
              <a:rPr lang="en-US" sz="2000" b="1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51901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CB9-97B6-48F6-AD43-7DAD1BC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6"/>
            <a:ext cx="10515600" cy="1325563"/>
          </a:xfrm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b="1" dirty="0"/>
              <a:t>ANALYZE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E815F-F562-4E8C-A747-CEE3FE316C2A}"/>
              </a:ext>
            </a:extLst>
          </p:cNvPr>
          <p:cNvSpPr/>
          <p:nvPr/>
        </p:nvSpPr>
        <p:spPr>
          <a:xfrm>
            <a:off x="838200" y="2063740"/>
            <a:ext cx="9391650" cy="4649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Contract spending across departments for year 2019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103 MB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639480 Rows and 261 Columns</a:t>
            </a:r>
          </a:p>
          <a:p>
            <a:pPr lvl="1">
              <a:lnSpc>
                <a:spcPct val="150000"/>
              </a:lnSpc>
            </a:pPr>
            <a:endParaRPr lang="en-US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Resources vs Obligations for year 2018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Combined multiple CSV files across quarters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0.29 MB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512 Rows and 18 Columns </a:t>
            </a:r>
          </a:p>
          <a:p>
            <a:pPr>
              <a:lnSpc>
                <a:spcPct val="150000"/>
              </a:lnSpc>
            </a:pPr>
            <a:br>
              <a:rPr lang="en-US" sz="2000" b="1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54799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CB9-97B6-48F6-AD43-7DAD1BC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6"/>
            <a:ext cx="10515600" cy="1325563"/>
          </a:xfrm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b="1" dirty="0"/>
              <a:t>ANALYZE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E815F-F562-4E8C-A747-CEE3FE316C2A}"/>
              </a:ext>
            </a:extLst>
          </p:cNvPr>
          <p:cNvSpPr/>
          <p:nvPr/>
        </p:nvSpPr>
        <p:spPr>
          <a:xfrm>
            <a:off x="838200" y="2063740"/>
            <a:ext cx="9391650" cy="4280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u="sng" dirty="0"/>
              <a:t>Contract spending - 2019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Out of 66 departments, 3 departments accounted for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92.13 % of total spending dollars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76.51 % data size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Focused Analysis on top 3 spending departments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Department of Energy (DOE)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Department of Defense (DOD)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National Aeronautics and Space (NASA)</a:t>
            </a:r>
            <a:br>
              <a:rPr lang="en-US" sz="2000" b="1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91698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CB9-97B6-48F6-AD43-7DAD1BC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6"/>
            <a:ext cx="10515600" cy="1325563"/>
          </a:xfrm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b="1" dirty="0"/>
              <a:t>ANALYZE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7009A-CA7E-4EB1-8FAF-A3113CD97793}"/>
              </a:ext>
            </a:extLst>
          </p:cNvPr>
          <p:cNvSpPr txBox="1"/>
          <p:nvPr/>
        </p:nvSpPr>
        <p:spPr>
          <a:xfrm>
            <a:off x="6896099" y="1838325"/>
            <a:ext cx="4124325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u="sng" dirty="0"/>
              <a:t>Contract spending - 2019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Department of Energy has highest spending on contracts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Department of Defense has second highest spending on contracts but no. of contracts accounts are relatively high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C8ACAB-4BCA-4711-9B2E-C985BF36B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12" y="1724958"/>
            <a:ext cx="4557713" cy="489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57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CB9-97B6-48F6-AD43-7DAD1BC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6"/>
            <a:ext cx="10515600" cy="1325563"/>
          </a:xfrm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b="1" dirty="0"/>
              <a:t>ANALYZE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E6DA87-669A-461C-8B76-57E06FD0D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7" y="1562100"/>
            <a:ext cx="4805363" cy="4448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36A104-8E2A-44C7-86B2-3D5A1FAF0AAA}"/>
              </a:ext>
            </a:extLst>
          </p:cNvPr>
          <p:cNvSpPr txBox="1"/>
          <p:nvPr/>
        </p:nvSpPr>
        <p:spPr>
          <a:xfrm>
            <a:off x="6896099" y="1838325"/>
            <a:ext cx="4124325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u="sng" dirty="0"/>
              <a:t>Contract spending - 2019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Comparing total dollar amount vs average amount spent across departments top 3 departments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Average value of contract is relatively less for Department of Defense</a:t>
            </a:r>
          </a:p>
        </p:txBody>
      </p:sp>
    </p:spTree>
    <p:extLst>
      <p:ext uri="{BB962C8B-B14F-4D97-AF65-F5344CB8AC3E}">
        <p14:creationId xmlns:p14="http://schemas.microsoft.com/office/powerpoint/2010/main" val="1870226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CB9-97B6-48F6-AD43-7DAD1BC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6"/>
            <a:ext cx="10515600" cy="1325563"/>
          </a:xfrm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b="1" dirty="0"/>
              <a:t>ANALYZE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36A104-8E2A-44C7-86B2-3D5A1FAF0AAA}"/>
              </a:ext>
            </a:extLst>
          </p:cNvPr>
          <p:cNvSpPr txBox="1"/>
          <p:nvPr/>
        </p:nvSpPr>
        <p:spPr>
          <a:xfrm>
            <a:off x="7019924" y="1948317"/>
            <a:ext cx="4124325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u="sng" dirty="0"/>
              <a:t>Contract spending - 2019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Observed seasonal trends in contract spending occurring with peaks every month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contract spending spiking near the end of the government’s fiscal year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BA844-41E8-48E7-A304-4F0BA47DE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" y="1948317"/>
            <a:ext cx="6257924" cy="42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47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CB9-97B6-48F6-AD43-7DAD1BC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6"/>
            <a:ext cx="10515600" cy="1325563"/>
          </a:xfrm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b="1" dirty="0"/>
              <a:t>INTERPRET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E815F-F562-4E8C-A747-CEE3FE316C2A}"/>
              </a:ext>
            </a:extLst>
          </p:cNvPr>
          <p:cNvSpPr/>
          <p:nvPr/>
        </p:nvSpPr>
        <p:spPr>
          <a:xfrm>
            <a:off x="838200" y="2063740"/>
            <a:ext cx="9391650" cy="3356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u="sng" dirty="0"/>
              <a:t>Contract spending - 2019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Department of Energy has highest spending accounting for 289 Billions followed by Department of Defense and NASA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Of the 3 departments, no. of contracts is very high for Department of Defense accounting for 98.3 %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This shows average value of contract is high for Department of Energy </a:t>
            </a:r>
            <a:br>
              <a:rPr lang="en-US" sz="2000" b="1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8781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CB9-97B6-48F6-AD43-7DAD1BC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6"/>
            <a:ext cx="10515600" cy="1325563"/>
          </a:xfrm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b="1" dirty="0"/>
              <a:t>ANALYZE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E815F-F562-4E8C-A747-CEE3FE316C2A}"/>
              </a:ext>
            </a:extLst>
          </p:cNvPr>
          <p:cNvSpPr/>
          <p:nvPr/>
        </p:nvSpPr>
        <p:spPr>
          <a:xfrm>
            <a:off x="838200" y="2063740"/>
            <a:ext cx="9391650" cy="3633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/>
              <a:t>Resources vs Obligations for year 2018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Selected Judicial Department for analysis on Resources vs obligations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64 .42 % data size is accounted for top 3 departments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Top 3 departments  -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Treasury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Justice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Homeland security</a:t>
            </a:r>
            <a:br>
              <a:rPr lang="en-US" sz="2000" b="1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98342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CB9-97B6-48F6-AD43-7DAD1BC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6"/>
            <a:ext cx="10515600" cy="1325563"/>
          </a:xfrm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b="1" dirty="0"/>
              <a:t>ANALYZE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7009A-CA7E-4EB1-8FAF-A3113CD97793}"/>
              </a:ext>
            </a:extLst>
          </p:cNvPr>
          <p:cNvSpPr txBox="1"/>
          <p:nvPr/>
        </p:nvSpPr>
        <p:spPr>
          <a:xfrm>
            <a:off x="6896099" y="1838325"/>
            <a:ext cx="4124325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u="sng" dirty="0"/>
              <a:t>Resources vs Obligations - 2018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Department of Energy has highest spending on contracts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Department of Defense has second highest spending on contracts but no. of contracts accounts are relatively high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FCB6B2-24DA-4BEA-BFC8-59086DF2F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825" y="1838325"/>
            <a:ext cx="5487650" cy="365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56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CB9-97B6-48F6-AD43-7DAD1BC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6"/>
            <a:ext cx="10515600" cy="1325563"/>
          </a:xfrm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b="1" dirty="0"/>
              <a:t>ANALYZE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36A104-8E2A-44C7-86B2-3D5A1FAF0AAA}"/>
              </a:ext>
            </a:extLst>
          </p:cNvPr>
          <p:cNvSpPr txBox="1"/>
          <p:nvPr/>
        </p:nvSpPr>
        <p:spPr>
          <a:xfrm>
            <a:off x="6896099" y="1838325"/>
            <a:ext cx="4124325" cy="2947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u="sng" dirty="0"/>
              <a:t>Resources vs Obligations - 2018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u="sng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For the top 3 departments, both resource allocation from current year as well as brought forward from previous year are relatively high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49250-DDF5-46B9-B4D3-CC1613DC3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00" y="2009358"/>
            <a:ext cx="5487650" cy="365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12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CB9-97B6-48F6-AD43-7DAD1BC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6"/>
            <a:ext cx="10515600" cy="1325563"/>
          </a:xfrm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b="1" dirty="0"/>
              <a:t>INTERPRET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E815F-F562-4E8C-A747-CEE3FE316C2A}"/>
              </a:ext>
            </a:extLst>
          </p:cNvPr>
          <p:cNvSpPr/>
          <p:nvPr/>
        </p:nvSpPr>
        <p:spPr>
          <a:xfrm>
            <a:off x="838200" y="2063740"/>
            <a:ext cx="9391650" cy="3956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u="sng" dirty="0"/>
              <a:t>Resources vs Obligations - 2018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High budget allocation and obligations are found for certain departments like Treasury, Justice, Homeland Security, Judicial Bar compared to other departments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For education, this is just as required. Surplus amount from other departments may be transferred to departments in need, say education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Budgets allocated from current year as well as brought forward from previous year are comparatively high for certain departments </a:t>
            </a:r>
            <a:br>
              <a:rPr lang="en-US" sz="2000" b="1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61881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CB9-97B6-48F6-AD43-7DAD1BC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6"/>
            <a:ext cx="10515600" cy="1325563"/>
          </a:xfrm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b="1" dirty="0"/>
              <a:t>IN PROGRESS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E815F-F562-4E8C-A747-CEE3FE316C2A}"/>
              </a:ext>
            </a:extLst>
          </p:cNvPr>
          <p:cNvSpPr/>
          <p:nvPr/>
        </p:nvSpPr>
        <p:spPr>
          <a:xfrm>
            <a:off x="838200" y="2063740"/>
            <a:ext cx="9391650" cy="3726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Clustering algorithms in </a:t>
            </a:r>
            <a:r>
              <a:rPr lang="en-US" sz="2000" b="1" dirty="0" err="1"/>
              <a:t>scikit</a:t>
            </a:r>
            <a:r>
              <a:rPr lang="en-US" sz="2000" b="1" dirty="0"/>
              <a:t>-learn for analyzing more data across years and departments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Analysis to be performed on factors like on what basis budget is being allocated, constraints on project completions etc.,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lnSpc>
                <a:spcPct val="150000"/>
              </a:lnSpc>
            </a:pPr>
            <a:br>
              <a:rPr lang="en-US" sz="2000" b="1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651192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8A0C2E-F276-4EDA-A220-B3324D0FBC96}"/>
              </a:ext>
            </a:extLst>
          </p:cNvPr>
          <p:cNvSpPr txBox="1"/>
          <p:nvPr/>
        </p:nvSpPr>
        <p:spPr>
          <a:xfrm flipH="1">
            <a:off x="4693919" y="3429000"/>
            <a:ext cx="298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99961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825</TotalTime>
  <Words>566</Words>
  <Application>Microsoft Office PowerPoint</Application>
  <PresentationFormat>Widescreen</PresentationFormat>
  <Paragraphs>108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Berlin Sans FB</vt:lpstr>
      <vt:lpstr>Century Gothic</vt:lpstr>
      <vt:lpstr>Wingdings 3</vt:lpstr>
      <vt:lpstr>Slice</vt:lpstr>
      <vt:lpstr>Data Incubator  Project  analyze FEDERAL Spending</vt:lpstr>
      <vt:lpstr>CONTENTS</vt:lpstr>
      <vt:lpstr>GENERAL Approach</vt:lpstr>
      <vt:lpstr>Identify Problem Statement</vt:lpstr>
      <vt:lpstr>Collect AND PREPARE Data</vt:lpstr>
      <vt:lpstr>ANALYZE Data</vt:lpstr>
      <vt:lpstr>ANALYZE Data</vt:lpstr>
      <vt:lpstr>ANALYZE Data</vt:lpstr>
      <vt:lpstr>ANALYZE Data</vt:lpstr>
      <vt:lpstr>ANALYZE Data</vt:lpstr>
      <vt:lpstr>ANALYZE Data</vt:lpstr>
      <vt:lpstr>INTERPRET RESULTS</vt:lpstr>
      <vt:lpstr>ANALYZE Data</vt:lpstr>
      <vt:lpstr>ANALYZE Data</vt:lpstr>
      <vt:lpstr>ANALYZE Data</vt:lpstr>
      <vt:lpstr>INTERPRET RESULTS</vt:lpstr>
      <vt:lpstr>IN PROGRESS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Contracts</dc:title>
  <dc:creator>Prathiba Duvvuri</dc:creator>
  <cp:lastModifiedBy>Prathiba Duvvuri</cp:lastModifiedBy>
  <cp:revision>89</cp:revision>
  <dcterms:created xsi:type="dcterms:W3CDTF">2019-01-29T03:32:26Z</dcterms:created>
  <dcterms:modified xsi:type="dcterms:W3CDTF">2019-02-19T19:12:02Z</dcterms:modified>
</cp:coreProperties>
</file>